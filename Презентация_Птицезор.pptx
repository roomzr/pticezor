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5E0DA"/>
                </a:solidFill>
                <a:latin typeface="Arial"/>
              </a:rPr>
              <a:t>ХАКАТОН «КОД БУДУЩЕГО»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3F0E8"/>
                </a:solidFill>
                <a:latin typeface="Arial"/>
              </a:rPr>
              <a:t>Птицезор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05840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3F0E8"/>
                </a:solidFill>
                <a:latin typeface="Arial"/>
              </a:rPr>
              <a:t>Видеоучёт падежа и среднего привеса
в птичнике с бройлером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977639"/>
            <a:ext cx="1920240" cy="41148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9144000" cy="16459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D5E0DA"/>
                </a:solidFill>
                <a:latin typeface="Arial"/>
              </a:rPr>
              <a:t>Номинация: сельское хозяйство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D5E0DA"/>
                </a:solidFill>
                <a:latin typeface="Arial"/>
              </a:rPr>
              <a:t>Стартап-проект, программный продукт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D5E0DA"/>
                </a:solidFill>
                <a:latin typeface="Arial"/>
              </a:rPr>
              <a:t>Финал: 13 ноября 2026 г., Речица, ДКиТ «Нефтяник»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2421"/>
                </a:solidFill>
                <a:latin typeface="Arial"/>
              </a:rPr>
              <a:t>Две цифры, которые до сих пор берут руками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234440" cy="50292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6565392"/>
            <a:ext cx="11320272" cy="9144"/>
          </a:xfrm>
          <a:prstGeom prst="rect">
            <a:avLst/>
          </a:prstGeom>
          <a:solidFill>
            <a:srgbClr val="D4C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Птицезор  ·  сельское хозяйство  ·  «Код Будущего»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1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234440"/>
            <a:ext cx="553212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577840" cy="3977639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89888"/>
            <a:ext cx="50292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E3A34"/>
                </a:solidFill>
                <a:latin typeface="Arial"/>
              </a:rPr>
              <a:t>Падёж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5029200" cy="292608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C2421"/>
                </a:solidFill>
                <a:latin typeface="Arial"/>
              </a:rPr>
              <a:t>Тушку ищут обходом зала.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C2421"/>
                </a:solidFill>
                <a:latin typeface="Arial"/>
              </a:rPr>
              <a:t>В журнале остаётся число.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C2421"/>
                </a:solidFill>
                <a:latin typeface="Arial"/>
              </a:rPr>
              <a:t>Место на плане чаще всего не пишут.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C2421"/>
                </a:solidFill>
                <a:latin typeface="Arial"/>
              </a:rPr>
              <a:t>Часть голов находят только следующим проходом.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89888"/>
            <a:ext cx="50292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E3A34"/>
                </a:solidFill>
                <a:latin typeface="Arial"/>
              </a:rPr>
              <a:t>Живой вес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029200" cy="292608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C2421"/>
                </a:solidFill>
                <a:latin typeface="Arial"/>
              </a:rPr>
              <a:t>Ловят несколько десятков голов.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C2421"/>
                </a:solidFill>
                <a:latin typeface="Arial"/>
              </a:rPr>
              <a:t>Так делают раз или два в неделю.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C2421"/>
                </a:solidFill>
                <a:latin typeface="Arial"/>
              </a:rPr>
              <a:t>Между взвешиваниями график пустой.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C2421"/>
                </a:solidFill>
                <a:latin typeface="Arial"/>
              </a:rPr>
              <a:t>В руки чаще попадает птица, которую проще поймать.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11247120" cy="960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421"/>
                </a:solidFill>
                <a:latin typeface="Arial"/>
              </a:rPr>
              <a:t>Камера сверху может считать обе цифры. Ветеринарного врача она не заменяет и день убоя сама не назначает.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2421"/>
                </a:solidFill>
                <a:latin typeface="Arial"/>
              </a:rPr>
              <a:t>Что мастер видит утром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234440" cy="50292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6565392"/>
            <a:ext cx="11320272" cy="9144"/>
          </a:xfrm>
          <a:prstGeom prst="rect">
            <a:avLst/>
          </a:prstGeom>
          <a:solidFill>
            <a:srgbClr val="D4C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Птицезор  ·  сельское хозяйство  ·  «Код Будущего»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2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15568"/>
            <a:ext cx="11292840" cy="1170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9144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E3B2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261872"/>
            <a:ext cx="96926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Точки падежа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45919"/>
            <a:ext cx="96926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Сколько их за ночь и в какой клетке плана. Пока мастер не нажмёт «падаль» или «живая», точка в журнал не пишется.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2377439"/>
            <a:ext cx="11292840" cy="1170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9144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E3B2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523744"/>
            <a:ext cx="96926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Две цифры по головам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907791"/>
            <a:ext cx="96926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Посажено по журналу и сколько видно в зонах камер. Разница – сигнал. Подписью «поголовье корпуса» видео не называем и в инвентаризацию не ставим.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639311"/>
            <a:ext cx="11292840" cy="1170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95344"/>
            <a:ext cx="9144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E3B2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785615"/>
            <a:ext cx="96926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Средний вес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3"/>
            <a:ext cx="96926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Медиана по головам, которых было нормально видно, и отклонение от кривой кросса на этот день жизни.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4901183"/>
            <a:ext cx="11292840" cy="117043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57216"/>
            <a:ext cx="9144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E3B2F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047488"/>
            <a:ext cx="96926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Активность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431536"/>
            <a:ext cx="969264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Секция села или сбилась к стене относительно вчерашнего того же часа. Повод проверить воздух и воду, не диагноз.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75F"/>
                </a:solidFill>
                <a:latin typeface="Arial"/>
              </a:rPr>
              <a:t>Одна камера видит свой прямоугольник пола. Зал закрывают несколько зон. Счёт идёт в тамбуре, видео наружу не уходит.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2421"/>
                </a:solidFill>
                <a:latin typeface="Arial"/>
              </a:rPr>
              <a:t>Задачи, на которые нацелена разработка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234440" cy="50292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6565392"/>
            <a:ext cx="11320272" cy="9144"/>
          </a:xfrm>
          <a:prstGeom prst="rect">
            <a:avLst/>
          </a:prstGeom>
          <a:solidFill>
            <a:srgbClr val="D4C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Птицезор  ·  сельское хозяйство  ·  «Код Будущего»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3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28016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9144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8E3B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572768"/>
            <a:ext cx="42062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34"/>
                </a:solidFill>
                <a:latin typeface="Arial"/>
              </a:rPr>
              <a:t>Суточный падёж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286000"/>
            <a:ext cx="51206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Число и место на плане. Каждую точку мастер подтверждает.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280160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508760"/>
            <a:ext cx="9144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8E3B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1572768"/>
            <a:ext cx="42062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34"/>
                </a:solidFill>
                <a:latin typeface="Arial"/>
              </a:rPr>
              <a:t>Вес без отлова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286000"/>
            <a:ext cx="51206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Медиана за сутки. Цель пилота – ошибка около 7 %. До грамма не обещаем.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611879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840479"/>
            <a:ext cx="9144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8E3B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04487"/>
            <a:ext cx="42062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34"/>
                </a:solidFill>
                <a:latin typeface="Arial"/>
              </a:rPr>
              <a:t>Сигнал по залу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617720"/>
            <a:ext cx="51206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Доля замерших голов выросла больше чем на 15 п.п. к тому же часу вчера.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3611879"/>
            <a:ext cx="562356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840479"/>
            <a:ext cx="9144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8E3B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3904487"/>
            <a:ext cx="420624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34"/>
                </a:solidFill>
                <a:latin typeface="Arial"/>
              </a:rPr>
              <a:t>Счёт на месте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617720"/>
            <a:ext cx="512064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Без постоянного интернета. Наружу – только сообщение и суточная строка.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2421"/>
                </a:solidFill>
                <a:latin typeface="Arial"/>
              </a:rPr>
              <a:t>Алгоритм падежа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234440" cy="50292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6565392"/>
            <a:ext cx="11320272" cy="9144"/>
          </a:xfrm>
          <a:prstGeom prst="rect">
            <a:avLst/>
          </a:prstGeom>
          <a:solidFill>
            <a:srgbClr val="D4C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Птицезор  ·  сельское хозяйство  ·  «Код Будущего»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4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481328"/>
            <a:ext cx="23774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8E3B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03120"/>
            <a:ext cx="246888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Камера стоит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926080"/>
            <a:ext cx="246888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Прикручена и смотрит вниз. По залу не ездит. Сдвиг в алгоритме – это птица.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32588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81328"/>
            <a:ext cx="23774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8E3B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46888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След птицы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26080"/>
            <a:ext cx="246888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YOLO ставит рамку. Номер идёт за птицей. Камера при этом не движется.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32588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481328"/>
            <a:ext cx="23774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8E3B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103120"/>
            <a:ext cx="246888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Когда это падёж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926080"/>
            <a:ext cx="246888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Поза на боку и пятно холоднее соседей на 4 °C десять минут. Спящая тёплая.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8864" y="1325880"/>
            <a:ext cx="2788920" cy="30632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1481328"/>
            <a:ext cx="23774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8E3B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103120"/>
            <a:ext cx="246888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Толпа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926080"/>
            <a:ext cx="2468880" cy="11887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Холодное пятно видно – точку ставят. Закрыли целиком – смотрят через 15 минут.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" y="4663440"/>
            <a:ext cx="11292840" cy="1600200"/>
          </a:xfrm>
          <a:prstGeom prst="roundRect">
            <a:avLst>
              <a:gd name="adj" fmla="val 6000"/>
            </a:avLst>
          </a:prstGeom>
          <a:solidFill>
            <a:srgbClr val="F4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828032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E3B2F"/>
                </a:solidFill>
                <a:latin typeface="Arial"/>
              </a:rPr>
              <a:t>Тепловизор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30368"/>
            <a:ext cx="10881360" cy="8686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Ночью зал лежит, но спит тёплым. Точку ставит холод на 4 °C ниже соседей, и так не меньше 10 минут. Тёплая голова в падёж не идёт ни днём, ни ночью.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2421"/>
                </a:solidFill>
                <a:latin typeface="Arial"/>
              </a:rPr>
              <a:t>Алгоритм оценки веса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234440" cy="50292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6565392"/>
            <a:ext cx="11320272" cy="9144"/>
          </a:xfrm>
          <a:prstGeom prst="rect">
            <a:avLst/>
          </a:prstGeom>
          <a:solidFill>
            <a:srgbClr val="D4C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Птицезор  ·  сельское хозяйство  ·  «Код Будущего»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5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234440"/>
            <a:ext cx="6903720" cy="4983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9888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Как получается цифра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6400800" cy="39319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1.  В расчёт не берём край кадра и рамки, слипшиеся с соседом.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2.  Ширина, высота и площадь переводятся в сантиметры по мерке на полу.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3.  К размеру добавляется возраст партии в сутках.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4.  Регрессия учится на контрольных весах этого кросса, не чужого.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5.  На экран выходит медиана секции за сутки.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234440"/>
            <a:ext cx="4206240" cy="4983480"/>
          </a:xfrm>
          <a:prstGeom prst="roundRect">
            <a:avLst>
              <a:gd name="adj" fmla="val 8000"/>
            </a:avLst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463040"/>
            <a:ext cx="3794760" cy="448056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F3F0E8"/>
                </a:solidFill>
                <a:latin typeface="Arial"/>
              </a:rPr>
              <a:t>Ориентир пилота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200" b="1" i="0">
                <a:solidFill>
                  <a:srgbClr val="F3F0E8"/>
                </a:solidFill>
                <a:latin typeface="Arial"/>
              </a:rPr>
              <a:t>около 7 %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D5E0DA"/>
                </a:solidFill>
                <a:latin typeface="Arial"/>
              </a:rPr>
              <a:t>средней относительной ошибки. Так выходило в опыте с обычной камерой, возраст 5–35 суток.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3F0E8"/>
                </a:solidFill>
                <a:latin typeface="Arial"/>
              </a:rPr>
              <a:t>Моложе 5 суток цифру не показываем.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3F0E8"/>
                </a:solidFill>
                <a:latin typeface="Arial"/>
              </a:rPr>
              <a:t>На последней неделе сверяем обычными весами. Сдача партии идёт по ним.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2421"/>
                </a:solidFill>
                <a:latin typeface="Arial"/>
              </a:rPr>
              <a:t>Из чего состоит комплекс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234440" cy="50292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6565392"/>
            <a:ext cx="11320272" cy="9144"/>
          </a:xfrm>
          <a:prstGeom prst="rect">
            <a:avLst/>
          </a:prstGeom>
          <a:solidFill>
            <a:srgbClr val="D4C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Птицезор  ·  сельское хозяйство  ·  «Код Будущего»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6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207008"/>
            <a:ext cx="5806440" cy="50292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19659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4"/>
                </a:solidFill>
                <a:latin typeface="Arial"/>
              </a:rPr>
              <a:t>Камеры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353312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Обычная и тепловизор, сверху, 2,5–3,5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19659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4"/>
                </a:solidFill>
                <a:latin typeface="Arial"/>
              </a:rPr>
              <a:t>Масштаб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011680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Планка или кормушка известной длины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19659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4"/>
                </a:solidFill>
                <a:latin typeface="Arial"/>
              </a:rPr>
              <a:t>Детектор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670048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YOLO, дообучение на этом зале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28416"/>
            <a:ext cx="19659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4"/>
                </a:solidFill>
                <a:latin typeface="Arial"/>
              </a:rPr>
              <a:t>След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328416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ByteTrack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86783"/>
            <a:ext cx="19659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4"/>
                </a:solidFill>
                <a:latin typeface="Arial"/>
              </a:rPr>
              <a:t>Вес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986783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Регрессия: размер рамки и сутки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45152"/>
            <a:ext cx="19659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4"/>
                </a:solidFill>
                <a:latin typeface="Arial"/>
              </a:rPr>
              <a:t>Экран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645152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Python, OpenCV, 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9659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3A34"/>
                </a:solidFill>
                <a:latin typeface="Arial"/>
              </a:rPr>
              <a:t>Где считается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5303520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Компьютер в тамбуре</a:t>
            </a:r>
          </a:p>
        </p:txBody>
      </p:sp>
      <p:pic>
        <p:nvPicPr>
          <p:cNvPr id="23" name="Picture 22" descr="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07008"/>
            <a:ext cx="5349240" cy="26746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46520" y="3973068"/>
            <a:ext cx="5349240" cy="13716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75F"/>
                </a:solidFill>
                <a:latin typeface="Arial"/>
              </a:rPr>
              <a:t>Две зоны. В каждой обычная камера и тепловизор. Красным отмечена точка холоднее соседей. Рисунок условный, это не снимок корпуса.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2421"/>
                </a:solidFill>
                <a:latin typeface="Arial"/>
              </a:rPr>
              <a:t>Утренний экран программы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234440" cy="50292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6565392"/>
            <a:ext cx="11320272" cy="9144"/>
          </a:xfrm>
          <a:prstGeom prst="rect">
            <a:avLst/>
          </a:prstGeom>
          <a:solidFill>
            <a:srgbClr val="D4C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Птицезор  ·  сельское хозяйство  ·  «Код Будущего»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7  /  10</a:t>
            </a:r>
          </a:p>
        </p:txBody>
      </p:sp>
      <p:pic>
        <p:nvPicPr>
          <p:cNvPr id="8" name="Picture 7" descr="screen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241" y="1115568"/>
            <a:ext cx="7777212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" y="5943600"/>
            <a:ext cx="1129284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75F"/>
                </a:solidFill>
                <a:latin typeface="Arial"/>
              </a:rPr>
              <a:t>Снимок окна. Цифры учебного ролика. «Видно в зонах камер» – не инвентаризация корпуса.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2421"/>
                </a:solidFill>
                <a:latin typeface="Arial"/>
              </a:rPr>
              <a:t>Как проверим, что от экрана есть толк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234440" cy="50292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6565392"/>
            <a:ext cx="11320272" cy="9144"/>
          </a:xfrm>
          <a:prstGeom prst="rect">
            <a:avLst/>
          </a:prstGeom>
          <a:solidFill>
            <a:srgbClr val="D4C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Птицезор  ·  сельское хозяйство  ·  «Код Будущего»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8  /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Пилот: одна секция, две пары камер, две недели рядом со старым обходом.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96596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0312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3B2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148840"/>
            <a:ext cx="256032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3A34"/>
                </a:solidFill>
                <a:latin typeface="Arial"/>
              </a:rPr>
              <a:t>Подтверждения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880360"/>
            <a:ext cx="3291840" cy="1280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Какую долю сигналов мастер отметил как падаль, а не как живую птицу.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96596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10312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3B2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148840"/>
            <a:ext cx="256032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3A34"/>
                </a:solidFill>
                <a:latin typeface="Arial"/>
              </a:rPr>
              <a:t>Весы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880360"/>
            <a:ext cx="3291840" cy="1280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На сколько медиана камеры разошлась с контрольным взвешиванием.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96596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10312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E3B2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148840"/>
            <a:ext cx="256032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E3A34"/>
                </a:solidFill>
                <a:latin typeface="Arial"/>
              </a:rPr>
              <a:t>Обход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880360"/>
            <a:ext cx="3291840" cy="12801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Сколько минут занимает проход по точкам и проход без плана.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1124712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Прикидка, не результат. Секция 25 000 голов. Минус 0,3–0,5 процентного пункта падежа за тур – это 75–125 голов. Цифра имеет смысл только против соседней секции, где учёт не меняли. Хозяйство под пилот на дату заявки не названо.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2421"/>
                </a:solidFill>
                <a:latin typeface="Arial"/>
              </a:rPr>
              <a:t>Что показываем 13 ноября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234440" cy="50292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6565392"/>
            <a:ext cx="11320272" cy="9144"/>
          </a:xfrm>
          <a:prstGeom prst="rect">
            <a:avLst/>
          </a:prstGeom>
          <a:solidFill>
            <a:srgbClr val="D4C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Птицезор  ·  сельское хозяйство  ·  «Код Будущего»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9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234440"/>
            <a:ext cx="5623560" cy="49377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4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512064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E3A34"/>
                </a:solidFill>
                <a:latin typeface="Arial"/>
              </a:rPr>
              <a:t>Будет на защите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120640" cy="365760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Окно уже открывается: утро, схема, демо, обход.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Ролик: рамки на птице и точки, которые ждут мастера.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Графики этого разбора и лист сводки на компьютере.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Ссылка на описание и инструкцию – в заявке и на ноутбуке.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E3B2F"/>
                </a:solidFill>
                <a:latin typeface="Arial"/>
              </a:rPr>
              <a:t>На дату заявки этого 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029200" cy="365760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Установки в хозяйстве.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Готового кейса. Пилот не проводился, экономии нет.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Обещания диагностировать болезнь или управлять кормом.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Отправки видео с корпуса в сеть.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10241280" cy="56692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C2421"/>
                </a:solidFill>
                <a:latin typeface="Arial"/>
              </a:rPr>
              <a:t>Сроки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1234440" cy="50292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" y="6565392"/>
            <a:ext cx="11320272" cy="9144"/>
          </a:xfrm>
          <a:prstGeom prst="rect">
            <a:avLst/>
          </a:prstGeom>
          <a:solidFill>
            <a:srgbClr val="D4CB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Птицезор  ·  сельское хозяйство  ·  «Код Будущего»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8368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75F"/>
                </a:solidFill>
                <a:latin typeface="Arial"/>
              </a:rPr>
              <a:t>10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2788920" cy="109728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103120"/>
            <a:ext cx="24688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30 сентября
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246120"/>
            <a:ext cx="246888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Заявка, презентация и ссылка на программу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82880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828800"/>
            <a:ext cx="2788920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4688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Уже есть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46120"/>
            <a:ext cx="246888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Окно: демо, утро, схема зала, роли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82880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1828800"/>
            <a:ext cx="2788920" cy="109728"/>
          </a:xfrm>
          <a:prstGeom prst="rect">
            <a:avLst/>
          </a:prstGeom>
          <a:solidFill>
            <a:srgbClr val="1E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2103120"/>
            <a:ext cx="24688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До 13 ноября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246120"/>
            <a:ext cx="246888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Прогон показа и лист: что только на площадке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44584" y="1828800"/>
            <a:ext cx="2788920" cy="32004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12700">
            <a:solidFill>
              <a:srgbClr val="D4CB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584" y="1828800"/>
            <a:ext cx="2788920" cy="109728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6" y="2103120"/>
            <a:ext cx="24688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E3A34"/>
                </a:solidFill>
                <a:latin typeface="Arial"/>
              </a:rPr>
              <a:t>13 ноября
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3246120"/>
            <a:ext cx="2468880" cy="14630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2421"/>
                </a:solidFill>
                <a:latin typeface="Arial"/>
              </a:rPr>
              <a:t>Очная защита, Речица, ДКиТ «Нефтяник»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421"/>
                </a:solidFill>
                <a:latin typeface="Arial"/>
              </a:rPr>
              <a:t>Прототип на видео уже собран. Площадка – следующий шаг после защиты, в заявке она не обещана.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3F0E8"/>
                </a:solidFill>
                <a:latin typeface="Arial"/>
              </a:rPr>
              <a:t>Птицезор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D5E0DA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103120"/>
            <a:ext cx="1920240" cy="41148"/>
          </a:xfrm>
          <a:prstGeom prst="rect">
            <a:avLst/>
          </a:prstGeom>
          <a:solidFill>
            <a:srgbClr val="8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5E0DA"/>
                </a:solidFill>
                <a:latin typeface="Arial"/>
              </a:rPr>
              <a:t>Состав команды заполняется перед отправкой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3F0E8"/>
                </a:solidFill>
                <a:latin typeface="Arial"/>
              </a:rPr>
              <a:t>1.   _______________________________________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3F0E8"/>
                </a:solidFill>
                <a:latin typeface="Arial"/>
              </a:rPr>
              <a:t>2.   _______________________________________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3F0E8"/>
                </a:solidFill>
                <a:latin typeface="Arial"/>
              </a:rPr>
              <a:t>3.   _______________________________________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3F0E8"/>
                </a:solidFill>
                <a:latin typeface="Arial"/>
              </a:rPr>
              <a:t>4.   _______________________________________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058400" cy="7315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5E0DA"/>
                </a:solidFill>
                <a:latin typeface="Arial"/>
              </a:rPr>
              <a:t>Контакт команды: телефон ____________________    почта rudenbelstad@gmail.com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DB4"/>
                </a:solidFill>
                <a:latin typeface="Arial"/>
              </a:rPr>
              <a:t>Номинация «Сельское хозяйство»  ·  финал 13 ноября 2026 г., Речица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Птицезор. Презентация</dc:title>
  <dc:subject>Хакатон «Код Будущего»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